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55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A7EA4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80960" y="-182880"/>
            <a:ext cx="1828800" cy="1828800"/>
          </a:xfrm>
          <a:prstGeom prst="ellipse">
            <a:avLst/>
          </a:prstGeom>
          <a:solidFill>
            <a:srgbClr val="14B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D4"/>
                </a:solidFill>
              </a:rPr>
              <a:t>GLA UNIVERSITY | MCA INTERNSHIP REPORT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Building Enterprise-Grade</a:t>
            </a:r>
            <a:endParaRPr lang="en-US" sz="3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Full Stack Applications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BD5E1"/>
                </a:solidFill>
              </a:rPr>
              <a:t>A Four-Month Professional Journey at Manthan IT Solutions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1148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Presented by: </a:t>
            </a:r>
            <a:r>
              <a:rPr lang="en-US" sz="1300" b="1" dirty="0">
                <a:solidFill>
                  <a:srgbClr val="FFFFFF"/>
                </a:solidFill>
              </a:rPr>
              <a:t>Vaibhav Chauhan (2484200208)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Guide: </a:t>
            </a:r>
            <a:r>
              <a:rPr lang="en-US" sz="1200" dirty="0">
                <a:solidFill>
                  <a:srgbClr val="FFFFFF"/>
                </a:solidFill>
              </a:rPr>
              <a:t>Sunanda Biswas  |  </a:t>
            </a:r>
            <a:r>
              <a:rPr lang="en-US" sz="1200" dirty="0">
                <a:solidFill>
                  <a:srgbClr val="CBD5E1"/>
                </a:solidFill>
              </a:rPr>
              <a:t>Manager at Manthan IT Solutions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D4"/>
                </a:solidFill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Internship Overview &amp; Motivation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Technology Stack &amp;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Project 1 — Opt-In/Opt-Out Report Website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Project 2 — Travel Booking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9601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37760" y="96012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37760" y="9601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96012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Project 3 — Calling &amp; Telephony Website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920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937760" y="192024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37760" y="19202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192024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Software Development Methodology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88036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937760" y="288036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28803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288036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System Testing &amp; Quality Assurance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38404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37760" y="3840480"/>
            <a:ext cx="457200" cy="74980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384048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0" y="38404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Conclusion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INTERNSHIP OVERVIEW &amp; 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EA4"/>
                </a:solidFill>
              </a:rPr>
              <a:t>About the Internship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Duration: </a:t>
            </a:r>
            <a:r>
              <a:rPr lang="en-US" sz="1300" dirty="0">
                <a:solidFill>
                  <a:srgbClr val="1E293B"/>
                </a:solidFill>
              </a:rPr>
              <a:t>6 Months at Manthan IT Solutions
</a:t>
            </a:r>
            <a:r>
              <a:rPr lang="en-US" sz="1300" b="1" dirty="0">
                <a:solidFill>
                  <a:srgbClr val="1E293B"/>
                </a:solidFill>
              </a:rPr>
              <a:t>Role: </a:t>
            </a:r>
            <a:r>
              <a:rPr lang="en-US" sz="1300" dirty="0">
                <a:solidFill>
                  <a:srgbClr val="1E293B"/>
                </a:solidFill>
              </a:rPr>
              <a:t>Full Stack Developer
</a:t>
            </a:r>
            <a:r>
              <a:rPr lang="en-US" sz="1300" b="1" dirty="0">
                <a:solidFill>
                  <a:srgbClr val="1E293B"/>
                </a:solidFill>
              </a:rPr>
              <a:t>Domain: </a:t>
            </a:r>
            <a:r>
              <a:rPr lang="en-US" sz="1300" dirty="0">
                <a:solidFill>
                  <a:srgbClr val="1E293B"/>
                </a:solidFill>
              </a:rPr>
              <a:t>Corporate Reporting · Travel Booking · Telephony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EA4"/>
                </a:solidFill>
              </a:rPr>
              <a:t>Key Motivations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Hands-on GoLang backend engineering with goroutines.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Modern React UI development with Framer Motion.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Normalized MySQL database design &amp; optimization.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Agile / Scrum team collaboration.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End-to-end ownership of </a:t>
            </a:r>
            <a:r>
              <a:rPr lang="en-US" sz="1200">
                <a:solidFill>
                  <a:srgbClr val="1E293B"/>
                </a:solidFill>
              </a:rPr>
              <a:t>enterprise-grade products.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10896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0" y="9601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D4"/>
                </a:solidFill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0" y="16184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Enterprise Projects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286000"/>
            <a:ext cx="310896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0" y="22860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D4"/>
                </a:solidFill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0" y="29443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Months Duration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611880"/>
            <a:ext cx="310896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0" y="36118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D4"/>
                </a:solidFill>
              </a:rPr>
              <a:t>5+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669280" y="42702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Core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TECHNOLOGY STACK &amp; TOOLS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201168"/>
          </a:xfrm>
          <a:prstGeom prst="rect">
            <a:avLst/>
          </a:prstGeom>
          <a:solidFill>
            <a:srgbClr val="00AD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GoLang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High-concurrency 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RESTful APIs &amp; goroutines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201168"/>
          </a:xfrm>
          <a:prstGeom prst="rect">
            <a:avLst/>
          </a:prstGeom>
          <a:solidFill>
            <a:srgbClr val="61D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0" y="1261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React.js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Component-driven UI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Virtual DOM &amp; Hooks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201168"/>
          </a:xfrm>
          <a:prstGeom prst="rect">
            <a:avLst/>
          </a:prstGeom>
          <a:solidFill>
            <a:srgbClr val="4479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1261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MySQL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Normalized schemas (3NF)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B-Tree indexing &amp; ACID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43200" cy="201168"/>
          </a:xfrm>
          <a:prstGeom prst="rect">
            <a:avLst/>
          </a:prstGeom>
          <a:solidFill>
            <a:srgbClr val="BB4B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Framer Motion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Production animations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Page transitions &amp; micro-UX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43200" cy="2011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Lucidchart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ER diagrams &amp; flowcharts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Visual architecture docs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743200" cy="201168"/>
          </a:xfrm>
          <a:prstGeom prst="rect">
            <a:avLst/>
          </a:prstGeom>
          <a:solidFill>
            <a:srgbClr val="FF6C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26480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Postman + Git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API testing &amp; CI/CD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Git Flow collaboration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SOFTWARE DEVELOPMENT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5528" y="960120"/>
            <a:ext cx="768096" cy="768096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5528" y="960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645920" cy="10058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Sprint Planning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2-week sprints, story points, backlog grooming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1307592"/>
            <a:ext cx="274320" cy="54864"/>
          </a:xfrm>
          <a:prstGeom prst="rect">
            <a:avLst/>
          </a:prstGeom>
          <a:solidFill>
            <a:srgbClr val="14B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768096" cy="768096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14600" y="960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39112" y="1874520"/>
            <a:ext cx="1645920" cy="10058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39112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Daily Stand-Up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9112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Progress sync, blocker identification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30752" y="1307592"/>
            <a:ext cx="274320" cy="54864"/>
          </a:xfrm>
          <a:prstGeom prst="rect">
            <a:avLst/>
          </a:prstGeom>
          <a:solidFill>
            <a:srgbClr val="14B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33672" y="960120"/>
            <a:ext cx="768096" cy="768096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33672" y="960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58184" y="1874520"/>
            <a:ext cx="1645920" cy="10058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758184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Development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58184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Feature branches (Git Flow), peer code reviews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49824" y="1307592"/>
            <a:ext cx="274320" cy="54864"/>
          </a:xfrm>
          <a:prstGeom prst="rect">
            <a:avLst/>
          </a:prstGeom>
          <a:solidFill>
            <a:srgbClr val="14B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52744" y="960120"/>
            <a:ext cx="768096" cy="768096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52744" y="960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77256" y="1874520"/>
            <a:ext cx="1645920" cy="10058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77256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Sprint 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77256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Demo to stakeholders on staging environment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68896" y="1307592"/>
            <a:ext cx="274320" cy="54864"/>
          </a:xfrm>
          <a:prstGeom prst="rect">
            <a:avLst/>
          </a:prstGeom>
          <a:solidFill>
            <a:srgbClr val="14B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671816" y="960120"/>
            <a:ext cx="768096" cy="768096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671816" y="9601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196328" y="1874520"/>
            <a:ext cx="1645920" cy="10058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96328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Retrospective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96328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Tech debt review &amp; CI/CD pipeline improvement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</a:rPr>
              <a:t>Tools Used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3429000"/>
            <a:ext cx="2011680" cy="1280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6576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D4"/>
                </a:solidFill>
              </a:rPr>
              <a:t>Jira &amp; Trello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Task tracking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42032" y="3429000"/>
            <a:ext cx="2011680" cy="1280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542032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D4"/>
                </a:solidFill>
              </a:rPr>
              <a:t>GitHub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42032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Version control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18304" y="3429000"/>
            <a:ext cx="2011680" cy="1280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18304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D4"/>
                </a:solidFill>
              </a:rPr>
              <a:t>Lucidchart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18304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Architecture docs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94576" y="3429000"/>
            <a:ext cx="2011680" cy="12801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94576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D4"/>
                </a:solidFill>
              </a:rPr>
              <a:t>Postman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94576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API testing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1 — OPT-IN / OPT-OUT REPORT WEBSITE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Internal HR platform for employees to opt in/out of project allocations &amp; managers to view analytical dashboards.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JWT-secured role-based access control (RBAC)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Opt-in/out workflow with eligibility validation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Aggregated reporting with GROUP BY + covering indexes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Async email notifications via background goroutines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Excel bulk import with stream-based Go parsing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</a:rPr>
              <a:t>Database Schema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73152" cy="5943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credentials, roles, skills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54880" y="2788920"/>
            <a:ext cx="73152" cy="5943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metadata, capacity, timeline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4747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73152" cy="5943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opt_status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decisions, justification, timestamps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416052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4160520"/>
            <a:ext cx="73152" cy="5943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160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materialized aggregations for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2 — TRAVEL BOOKING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0A7EA4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Customer-facing platform for discovering, planning, and booking flights, hotels &amp; multi-city travel packages with cinematic animations.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011680" cy="19202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01168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D4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React SPA + Framer Motion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Shared layout animations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Page-level route transitions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691640"/>
            <a:ext cx="2011680" cy="19202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50592" y="1691640"/>
            <a:ext cx="201168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50592" y="1691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D4"/>
                </a:solidFill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42032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GoLang RESTful API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Cursor-based pagination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&lt; 200ms search response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1691640"/>
            <a:ext cx="2011680" cy="19202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26864" y="1691640"/>
            <a:ext cx="201168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26864" y="1691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D4"/>
                </a:solidFill>
              </a:rPr>
              <a:t>Booking Flow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Multi-step state machine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Server-side validation (Go)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MySQL transaction-safe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3136" y="1691640"/>
            <a:ext cx="2011680" cy="1920240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803136" y="1691640"/>
            <a:ext cx="2011680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03136" y="16916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D4"/>
                </a:solidFill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4576" y="214884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HMAC webhook verification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Payment tokenization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SQL injection prevention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</a:rPr>
              <a:t>MySQL Tables: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destinations  ·  packages  ·  package_inclusions  ·  bookings  ·  payments  ·  traveller_details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8412480" cy="36576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Lucidchart used for sequence diagrams, state diagrams &amp; ER diagrams — updated on every schema migration.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PROJECT 3 — CALLING &amp; TELEPHONY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Enterprise telephony platform consolidating inbound/outbound calls, agent assignment, call recording, follow-up scheduling &amp; post-call analytics.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Call Lifecycle (Finite-State Machine)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56232" y="2340864"/>
            <a:ext cx="182880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93392" y="210312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93392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Ringing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75304" y="2340864"/>
            <a:ext cx="182880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712464" y="210312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12464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94376" y="2340864"/>
            <a:ext cx="182880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31536" y="210312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31536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On-Hold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13448" y="2340864"/>
            <a:ext cx="182880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150608" y="210312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150608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Terminated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8529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</a:rPr>
              <a:t>Architecture Highlights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Each call = lightweight goroutine with its own state
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Inter-goroutine comms via typed channels
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WebSocket real-time agent dashboard (no polling)
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Supervisor goroutine handles graceful disconnects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</a:rPr>
              <a:t>Database Tables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39319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846320" y="3246120"/>
            <a:ext cx="64008" cy="3657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agents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agent profiles &amp; availability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685032"/>
            <a:ext cx="39319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46320" y="3685032"/>
            <a:ext cx="64008" cy="3657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8348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calls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685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denormalized summaries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4123944"/>
            <a:ext cx="39319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46320" y="4123944"/>
            <a:ext cx="64008" cy="3657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83480" y="4123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call_events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41239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full event audit log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562856"/>
            <a:ext cx="393192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46320" y="4562856"/>
            <a:ext cx="64008" cy="3657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83480" y="45628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dispositions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562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post-call notes &amp; tasks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960120"/>
            <a:ext cx="7315200" cy="713232"/>
          </a:xfrm>
          <a:prstGeom prst="rect">
            <a:avLst/>
          </a:prstGeom>
          <a:solidFill>
            <a:srgbClr val="0A7EA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051560"/>
            <a:ext cx="36576" cy="53035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11880" y="9601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React.js  ·  Framer Motion  ·  Axios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673352"/>
            <a:ext cx="182880" cy="29260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1920240"/>
            <a:ext cx="7315200" cy="713232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36576" cy="53035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192024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GoLang RESTful API  ·  JWT Auth  ·  Rate Limiting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2633472"/>
            <a:ext cx="182880" cy="29260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14400" y="2880360"/>
            <a:ext cx="7315200" cy="713232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28803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971800"/>
            <a:ext cx="36576" cy="53035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11880" y="288036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Business Logic  ·  Goroutines  ·  WebSocket Handler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3593592"/>
            <a:ext cx="182880" cy="29260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4400" y="3840480"/>
            <a:ext cx="7315200" cy="713232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3931920"/>
            <a:ext cx="36576" cy="53035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11880" y="38404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MySQL (3NF)  ·  B-Tree Indexes  ·  ACID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TESTING &amp; QUALITY ASSURANCE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475488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Testing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Postman collections with env variables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Auto JWT injection via pre-request scripts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JSON schema assertion scripts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Go table-driven unit &amp; integration tests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18688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74320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18688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 Testing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481328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React Testing Library + Jest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User-observable behaviour tests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Visual regression across breakpoints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Framer Motion accessible state assertions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91440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63056" y="914400"/>
            <a:ext cx="274320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63056" y="914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 &amp; Graceful Degradation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1481328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SQL Injection via parameterized queries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XSS &amp; CSRF protection middleware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Rate limiting (token-bucket algorithm)
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HTTP 503 + animated fallback UI on failure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CHALLENGES &amp; ENGINEERING SOLUTIONS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6576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Challenge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Engineering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206240" cy="621792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Concurrent goroutines race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206240" cy="621792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81728" y="1554480"/>
            <a:ext cx="256032" cy="256032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Channel-based synchronization &amp; supervisor pattern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420624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N+1 query problem in MySQL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20624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81728" y="2286000"/>
            <a:ext cx="256032" cy="256032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Eager loading &amp; indexed joins, covering indexes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206240" cy="621792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83464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Optimistic UI vs. server consistency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206240" cy="621792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81728" y="3017520"/>
            <a:ext cx="256032" cy="256032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0" y="283464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Atomic state sync via WebSocket + React context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56616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Animation perf on low-end devices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81728" y="3749040"/>
            <a:ext cx="256032" cy="256032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356616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GPU-only transforms (opacity &amp; translate) in Framer Motion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97680"/>
            <a:ext cx="4206240" cy="621792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429768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Stateless authentication at scale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297680"/>
            <a:ext cx="4206240" cy="621792"/>
          </a:xfrm>
          <a:prstGeom prst="rect">
            <a:avLst/>
          </a:prstGeom>
          <a:solidFill>
            <a:srgbClr val="F0F6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81728" y="4480560"/>
            <a:ext cx="256032" cy="256032"/>
          </a:xfrm>
          <a:prstGeom prst="ellipse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0" y="429768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Cryptographically signed JWT tokens in Go middleware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NON-FUNCTIONAL REQUIREMENTS ACHIEVED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B2A"/>
                </a:solidFill>
              </a:rPr>
              <a:t>&lt; 200ms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EA4"/>
                </a:solidFill>
              </a:rPr>
              <a:t>MySQL query latency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B-Tree indexing + selective denormalization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73152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B2A"/>
                </a:solidFill>
              </a:rPr>
              <a:t>99.9%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EA4"/>
                </a:solidFill>
              </a:rPr>
              <a:t>System uptime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1762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Circuit breakers + graceful error handling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14800" cy="73152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B2A"/>
                </a:solidFill>
              </a:rPr>
              <a:t>10,000+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65760" y="3794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EA4"/>
                </a:solidFill>
              </a:rPr>
              <a:t>Concurrent goroutines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142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Lightweight Go runtime with minimal overhead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97180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4114800" cy="73152"/>
          </a:xfrm>
          <a:prstGeom prst="rect">
            <a:avLst/>
          </a:prstGeom>
          <a:solidFill>
            <a:srgbClr val="0A7EA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B2A"/>
                </a:solidFill>
              </a:rPr>
              <a:t>Zero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EA4"/>
                </a:solidFill>
              </a:rPr>
              <a:t>SQL injection surface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142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Parameterized queries throughout all Go services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 &amp; FUTURE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7EA4"/>
                </a:solidFill>
              </a:rPr>
              <a:t>Professional Learnings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GoLang high-concurrency backend engineering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React component architecture &amp; state management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Normalized MySQL schema design &amp; query tuning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Agile/Scrum team collaboration &amp; accountability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End-to-end SDLC for enterprise-grade products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7EA4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Docker containerization &amp; Kubernetes orchestration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GitHub Actions for full CI/CD automation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Microservice architecture with NATS / Kafka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Advanced observability with distributed tracing
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GraphQL API layer for flexible data fetching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931920"/>
            <a:ext cx="8412480" cy="896112"/>
          </a:xfrm>
          <a:prstGeom prst="rect">
            <a:avLst/>
          </a:prstGeom>
          <a:solidFill>
            <a:srgbClr val="F0F6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73152" cy="8961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"The challenges confronted and resolved during this engagement have definitively prepared me for a dynamic and impactful career as a Full Stack Developer."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0A7EA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4B8D4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46888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B8D4"/>
                </a:solidFill>
              </a:rPr>
              <a:t>Ayush Singh  |  Roll No. 2484200041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MCA — GLA University, Mathura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Full Stack Development Internship | Manthan IT Solutions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Guided by: Sunanda Biswas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972</Words>
  <Application>Microsoft Office PowerPoint</Application>
  <PresentationFormat>On-screen Show (16:9)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Development Internship at Manthan IT Solutions</dc:title>
  <dc:subject>PptxGenJS Presentation</dc:subject>
  <dc:creator>Ayush Singh</dc:creator>
  <cp:lastModifiedBy>sanskar rajput</cp:lastModifiedBy>
  <cp:revision>3</cp:revision>
  <dcterms:created xsi:type="dcterms:W3CDTF">2026-05-08T06:27:26Z</dcterms:created>
  <dcterms:modified xsi:type="dcterms:W3CDTF">2026-05-08T17:31:41Z</dcterms:modified>
</cp:coreProperties>
</file>